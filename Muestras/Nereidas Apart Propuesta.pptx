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Inversión mensual (ARS, miles)</c:v>
                </c:pt>
              </c:strCache>
            </c:strRef>
          </c:tx>
          <c:spPr>
            <a:solidFill>
              <a:srgbClr val="05475A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05475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Freelance
Junior</c:v>
                  </c:pt>
                  <c:pt idx="1">
                    <c:v>Nereidas
Standard</c:v>
                  </c:pt>
                  <c:pt idx="2">
                    <c:v>Nereidas
Full</c:v>
                  </c:pt>
                  <c:pt idx="3">
                    <c:v>Agencia
Integral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200</c:v>
                </c:pt>
                <c:pt idx="1">
                  <c:v>260</c:v>
                </c:pt>
                <c:pt idx="2">
                  <c:v>460</c:v>
                </c:pt>
                <c:pt idx="3">
                  <c:v>750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05475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50" b="0" i="0" u="none" strike="noStrike">
                <a:solidFill>
                  <a:srgbClr val="1A2B2E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47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3291840"/>
            <a:ext cx="4937760" cy="4937760"/>
          </a:xfrm>
          <a:prstGeom prst="ellipse">
            <a:avLst/>
          </a:prstGeom>
          <a:solidFill>
            <a:srgbClr val="032E3B"/>
          </a:solidFill>
          <a:ln/>
        </p:spPr>
      </p:sp>
      <p:sp>
        <p:nvSpPr>
          <p:cNvPr id="3" name="Shape 1"/>
          <p:cNvSpPr/>
          <p:nvPr/>
        </p:nvSpPr>
        <p:spPr>
          <a:xfrm>
            <a:off x="9418320" y="3931920"/>
            <a:ext cx="3657600" cy="3657600"/>
          </a:xfrm>
          <a:prstGeom prst="ellipse">
            <a:avLst/>
          </a:prstGeom>
          <a:solidFill>
            <a:srgbClr val="45AB6A"/>
          </a:solidFill>
          <a:ln/>
        </p:spPr>
      </p:sp>
      <p:sp>
        <p:nvSpPr>
          <p:cNvPr id="4" name="Shape 2"/>
          <p:cNvSpPr/>
          <p:nvPr/>
        </p:nvSpPr>
        <p:spPr>
          <a:xfrm>
            <a:off x="10149840" y="4663440"/>
            <a:ext cx="2194560" cy="2194560"/>
          </a:xfrm>
          <a:prstGeom prst="ellipse">
            <a:avLst/>
          </a:prstGeom>
          <a:solidFill>
            <a:srgbClr val="F6C9A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0292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mnt/user-data/upload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48640"/>
            <a:ext cx="475488" cy="475488"/>
          </a:xfrm>
          <a:prstGeom prst="ellipse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548640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TAWENO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6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NEREIDAS APART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21792" y="2697480"/>
            <a:ext cx="8961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Propuesta de Community Management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Presencia Digital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434340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BF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Planes Standard, Full y Superior  ·  Evaluación de mercado  ·  Cronograma de 30 días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40080" y="5989320"/>
            <a:ext cx="1828800" cy="0"/>
          </a:xfrm>
          <a:prstGeom prst="line">
            <a:avLst/>
          </a:prstGeom>
          <a:noFill/>
          <a:ln w="25400">
            <a:solidFill>
              <a:srgbClr val="F6C9A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0080" y="61264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de las Pampas, Buenos Aires  ·  Septiembre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A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Punto de partida de la marca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 hotel familiar de 5 unidades, atendido por sus dueños, a 50m de la playa y 150m del centro — según el análisis de marca realizado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21992"/>
            <a:ext cx="438912" cy="438912"/>
          </a:xfrm>
          <a:prstGeom prst="ellipse">
            <a:avLst/>
          </a:prstGeom>
          <a:solidFill>
            <a:srgbClr val="45AB6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2221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399032" y="22037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Fortalezas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715768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Ubicación inmejorable, a metros de la playa y el centro comercial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Atención personalizada por los propios dueños — diferencial real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Abierto los 12 meses, con unidades para 2 a 6 personas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96596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2221992"/>
            <a:ext cx="438912" cy="438912"/>
          </a:xfrm>
          <a:prstGeom prst="ellipse">
            <a:avLst/>
          </a:prstGeom>
          <a:solidFill>
            <a:srgbClr val="E9745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29400" y="222199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205472" y="220370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Oportunidades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2715768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de las Pampas está ganando visibilidad como destino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Fuerte tendencia de turismo de desconexión, ideal para redes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Posibilidad de sumar reservas en temporada baja y nuevos canales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416552"/>
            <a:ext cx="438912" cy="438912"/>
          </a:xfrm>
          <a:prstGeom prst="ellipse">
            <a:avLst/>
          </a:prstGeom>
          <a:solidFill>
            <a:srgbClr val="05475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22960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99032" y="43982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Debilidades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910328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digital desactualizada: el sitio no transmite la calidad real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Contenido incompleto y sin precios claros — genera desconfianza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identidad visual propia ni reseñas visibles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4160520"/>
            <a:ext cx="5257800" cy="2057400"/>
          </a:xfrm>
          <a:prstGeom prst="roundRect">
            <a:avLst>
              <a:gd name="adj" fmla="val 3556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4416552"/>
            <a:ext cx="438912" cy="438912"/>
          </a:xfrm>
          <a:prstGeom prst="ellipse">
            <a:avLst/>
          </a:prstGeom>
          <a:solidFill>
            <a:srgbClr val="5D6E6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629400" y="4416552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205472" y="4398264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Amenazas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6675120" y="4910328"/>
            <a:ext cx="4663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 con mejor presencia en redes y OTAs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Estacionalidad fuerte y alquileres informales que compiten por precio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 de un solo canal de contacto (WhatsApp), sin respaldo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Nereidas Apart  ·  Propuesta de Community Management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A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MERCADO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Cuánto cobran hoy en Argentina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Management — Instagram y Facebook (valores 2026)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86000"/>
            <a:ext cx="502920" cy="502920"/>
          </a:xfrm>
          <a:prstGeom prst="ellipse">
            <a:avLst/>
          </a:prstGeom>
          <a:solidFill>
            <a:srgbClr val="9FB8C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Freelance Junior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$150.000 – 250.000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130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/ mes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519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redes gestionadas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12–15 publicaciones/mes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estrategia de crecimiento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06240" y="196596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EAF5EE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286000"/>
            <a:ext cx="502920" cy="502920"/>
          </a:xfrm>
          <a:prstGeom prst="ellipse">
            <a:avLst/>
          </a:prstGeom>
          <a:solidFill>
            <a:srgbClr val="45AB6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262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926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Freelance Senior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3337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AB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$400.000 – 750.000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8130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/ mes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2519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Estrategia y calendario editorial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Copywriting profesional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de métricas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63840" y="196596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286000"/>
            <a:ext cx="502920" cy="502920"/>
          </a:xfrm>
          <a:prstGeom prst="ellipse">
            <a:avLst/>
          </a:prstGeom>
          <a:solidFill>
            <a:srgbClr val="0547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838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2926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Agencia Integral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3337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desde $750.000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38130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/ mes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42519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multidisciplinario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pauta y crisis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costo por rotación de cuentas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Nereidas Apart  ·  Propuesta de Community Management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A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MERCADO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Precios de rediseño web en Argentina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 de mercado para sitios de emprendimientos y pymes (valores 2026)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286000"/>
            <a:ext cx="502920" cy="502920"/>
          </a:xfrm>
          <a:prstGeom prst="ellipse">
            <a:avLst/>
          </a:prstGeom>
          <a:solidFill>
            <a:srgbClr val="9FB8C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Landing simple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337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$350.000 – 500.000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38130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· pago único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42519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página con secciones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responsive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Formulario de contacto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06240" y="196596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EAF5EE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26280" y="2286000"/>
            <a:ext cx="502920" cy="502920"/>
          </a:xfrm>
          <a:prstGeom prst="ellipse">
            <a:avLst/>
          </a:prstGeom>
          <a:solidFill>
            <a:srgbClr val="45AB6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262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2926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Sitio institucional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480560" y="3337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5AB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$800.000 – 1.500.000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8130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· pago único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2519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Varias secciones a medida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Galería de unidades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pymes en crecimiento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63840" y="1965960"/>
            <a:ext cx="3429000" cy="3931920"/>
          </a:xfrm>
          <a:prstGeom prst="roundRect">
            <a:avLst>
              <a:gd name="adj" fmla="val 21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3880" y="2286000"/>
            <a:ext cx="502920" cy="502920"/>
          </a:xfrm>
          <a:prstGeom prst="ellipse">
            <a:avLst/>
          </a:prstGeom>
          <a:solidFill>
            <a:srgbClr val="0547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18388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138160" y="29260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Desarrollo a medida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8138160" y="3337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$1.000.000 – 5.000.000+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8138160" y="3813048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· pago único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138160" y="42519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100% personalizado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Funcionalidades avanzadas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reservas / e-commerce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Nereidas Apart  ·  Propuesta de Community Management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A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POSICIONAMIENTO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se ubican los planes propuestos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31520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737360"/>
            <a:ext cx="3429000" cy="4206240"/>
          </a:xfrm>
          <a:prstGeom prst="roundRect">
            <a:avLst>
              <a:gd name="adj" fmla="val 2133"/>
            </a:avLst>
          </a:prstGeom>
          <a:solidFill>
            <a:srgbClr val="05475A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458200" y="19659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6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RÁPIDA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8458200" y="2331720"/>
            <a:ext cx="29260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Standard entra apenas por encima de un freelance junior, con mejor consistencia.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Full compite con un freelance senior, muy por debajo de una agencia integral.</a:t>
            </a:r>
            <a:endParaRPr lang="en-US" sz="115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Superior suma web e integraciones en el primer mes, y luego iguala la cuota del Full.</a:t>
            </a:r>
            <a:endParaRPr lang="en-US" sz="115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tres quedan en un punto medio: profesionales, sin el costo de una agencia grande.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Nereidas Apart  ·  Propuesta de Community Management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A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DE MARCA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 visual — Paleta “Mar Profundo”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0B3D5C"/>
          </a:solidFill>
          <a:ln w="12700">
            <a:solidFill>
              <a:srgbClr val="0B3D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3154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Profundo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34290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Primario  ·  #0B3D5C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990088" y="169164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27248" y="3154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Turquesa Costa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127248" y="34290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Secundario  ·  #1C7293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31536" y="169164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E4C9A0"/>
          </a:solidFill>
          <a:ln w="12700">
            <a:solidFill>
              <a:srgbClr val="E4C9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68696" y="3154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Arena Cálida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568696" y="34290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Acento  ·  #E4C9A0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872984" y="1691640"/>
            <a:ext cx="2331720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10144" y="315468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 Espuma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8010144" y="342900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 ·  #FFFFFF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5349240" cy="2286000"/>
          </a:xfrm>
          <a:prstGeom prst="roundRect">
            <a:avLst>
              <a:gd name="adj" fmla="val 3200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0233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A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22960" y="4343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Cambria</a:t>
            </a:r>
            <a:endParaRPr lang="en-US" sz="2400" dirty="0"/>
          </a:p>
        </p:txBody>
      </p:sp>
      <p:sp>
        <p:nvSpPr>
          <p:cNvPr id="19" name="Text 17"/>
          <p:cNvSpPr txBox="1"/>
          <p:nvPr/>
        </p:nvSpPr>
        <p:spPr>
          <a:xfrm>
            <a:off x="822960" y="48188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Encabezados y titulares — serif elegante, evoca calidez costera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5212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5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560527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y descripciones — sans limpia, alta legibilidad en pantalla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26480" y="379476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40233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A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TONO Y PÚBLICO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36168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Cálido · Cercano · Natural · Aspiracional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782312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que conectan con el mar y el bosque de Mar de las Pampas, sin perder calidez ni cercanía.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0" y="53035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Parejas y familias de 30–55 años (CABA / GBA) que buscan una escapada de fin de semana o vacaciones con identidad natural y detalles cuidados.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Nereidas Apart  ·  Propuesta de Community Management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A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COMERCIAL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Standard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749040" cy="4251960"/>
          </a:xfrm>
          <a:prstGeom prst="roundRect">
            <a:avLst>
              <a:gd name="adj" fmla="val 2439"/>
            </a:avLst>
          </a:prstGeom>
          <a:solidFill>
            <a:srgbClr val="05475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$260.000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/ mes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023360"/>
            <a:ext cx="301752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2062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7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 para mantener una presencia constante y prolija en redes, sin necesitar una estrategia de crecimiento agresiva.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1691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5A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INCLUYE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214884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295144"/>
            <a:ext cx="365760" cy="365760"/>
          </a:xfrm>
          <a:prstGeom prst="ellipse">
            <a:avLst/>
          </a:prstGeom>
          <a:solidFill>
            <a:srgbClr val="0547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488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39512" y="220370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+ Facebook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92608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072384"/>
            <a:ext cx="365760" cy="365760"/>
          </a:xfrm>
          <a:prstGeom prst="ellipse">
            <a:avLst/>
          </a:prstGeom>
          <a:solidFill>
            <a:srgbClr val="0547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5488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39512" y="298094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publicaciones de feed al mes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70332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849624"/>
            <a:ext cx="365760" cy="365760"/>
          </a:xfrm>
          <a:prstGeom prst="ellipse">
            <a:avLst/>
          </a:prstGeom>
          <a:solidFill>
            <a:srgbClr val="05475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5488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239512" y="37581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reels al 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214884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75320" y="2295144"/>
            <a:ext cx="365760" cy="365760"/>
          </a:xfrm>
          <a:prstGeom prst="ellipse">
            <a:avLst/>
          </a:prstGeom>
          <a:solidFill>
            <a:srgbClr val="05475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7532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759952" y="220370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historias semanales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292608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3072384"/>
            <a:ext cx="365760" cy="365760"/>
          </a:xfrm>
          <a:prstGeom prst="ellipse">
            <a:avLst/>
          </a:prstGeom>
          <a:solidFill>
            <a:srgbClr val="05475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7532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759952" y="298094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Respuesta a mensajes y comentarios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370332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849624"/>
            <a:ext cx="365760" cy="365760"/>
          </a:xfrm>
          <a:prstGeom prst="ellipse">
            <a:avLst/>
          </a:prstGeom>
          <a:solidFill>
            <a:srgbClr val="05475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7532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759952" y="37581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mensual simple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Nereidas Apart  ·  Propuesta de Community Management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A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COMERCIAL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Full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749040" cy="4251960"/>
          </a:xfrm>
          <a:prstGeom prst="roundRect">
            <a:avLst>
              <a:gd name="adj" fmla="val 2439"/>
            </a:avLst>
          </a:prstGeom>
          <a:solidFill>
            <a:srgbClr val="45AB6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5AB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$460.000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/ mes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023360"/>
            <a:ext cx="301752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2062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E7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acompañar temporadas altas y objetivos de crecimiento de seguidores y reservas directas.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1691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45A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INCLUYE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214884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295144"/>
            <a:ext cx="365760" cy="365760"/>
          </a:xfrm>
          <a:prstGeom prst="ellipse">
            <a:avLst/>
          </a:prstGeom>
          <a:solidFill>
            <a:srgbClr val="45AB6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488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39512" y="220370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+ Facebook (+ TikTok opcional)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92608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072384"/>
            <a:ext cx="365760" cy="365760"/>
          </a:xfrm>
          <a:prstGeom prst="ellipse">
            <a:avLst/>
          </a:prstGeom>
          <a:solidFill>
            <a:srgbClr val="45AB6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5488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39512" y="298094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a 20 publicaciones de feed al mes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70332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849624"/>
            <a:ext cx="365760" cy="365760"/>
          </a:xfrm>
          <a:prstGeom prst="ellipse">
            <a:avLst/>
          </a:prstGeom>
          <a:solidFill>
            <a:srgbClr val="45AB6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5488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239512" y="37581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 8 reels al 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448056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54880" y="4626864"/>
            <a:ext cx="365760" cy="365760"/>
          </a:xfrm>
          <a:prstGeom prst="ellipse">
            <a:avLst/>
          </a:prstGeom>
          <a:solidFill>
            <a:srgbClr val="45AB6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754880" y="46268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5239512" y="453542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diarias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214884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2295144"/>
            <a:ext cx="365760" cy="365760"/>
          </a:xfrm>
          <a:prstGeom prst="ellipse">
            <a:avLst/>
          </a:prstGeom>
          <a:solidFill>
            <a:srgbClr val="45AB6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7532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759952" y="220370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editorial y estrategia de contenido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292608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072384"/>
            <a:ext cx="365760" cy="365760"/>
          </a:xfrm>
          <a:prstGeom prst="ellipse">
            <a:avLst/>
          </a:prstGeom>
          <a:solidFill>
            <a:srgbClr val="45AB6A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7532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759952" y="298094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Copywriting profesional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38160" y="370332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75320" y="3849624"/>
            <a:ext cx="365760" cy="365760"/>
          </a:xfrm>
          <a:prstGeom prst="ellipse">
            <a:avLst/>
          </a:prstGeom>
          <a:solidFill>
            <a:srgbClr val="45AB6A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7532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8759952" y="37581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de métricas con análisis de crecimiento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Nereidas Apart  ·  Propuesta de Community Management</a:t>
            </a:r>
            <a:endParaRPr lang="en-US" sz="900" dirty="0"/>
          </a:p>
        </p:txBody>
      </p:sp>
      <p:sp>
        <p:nvSpPr>
          <p:cNvPr id="41" name="Text 39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A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COMERCIAL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Superior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749040" cy="4251960"/>
          </a:xfrm>
          <a:prstGeom prst="roundRect">
            <a:avLst>
              <a:gd name="adj" fmla="val 2439"/>
            </a:avLst>
          </a:prstGeom>
          <a:solidFill>
            <a:srgbClr val="032E3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32E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34640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$750.000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375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CF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 mes · incluye rediseño web e integraciones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8862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5AB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$460.000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43159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mes desde el segundo mes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" y="4754880"/>
            <a:ext cx="301752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89204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CFE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plan más completo: une la gestión de redes con la renovación de la web y las herramientas de gestión del apart.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1691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032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INCLUYE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17720" y="214884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2295144"/>
            <a:ext cx="365760" cy="365760"/>
          </a:xfrm>
          <a:prstGeom prst="ellipse">
            <a:avLst/>
          </a:prstGeom>
          <a:solidFill>
            <a:srgbClr val="032E3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5488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239512" y="220370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incluido en el Plan Full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17720" y="292608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3072384"/>
            <a:ext cx="365760" cy="365760"/>
          </a:xfrm>
          <a:prstGeom prst="ellipse">
            <a:avLst/>
          </a:prstGeom>
          <a:solidFill>
            <a:srgbClr val="032E3B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75488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239512" y="298094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Rediseño completo de la página web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370332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3849624"/>
            <a:ext cx="365760" cy="365760"/>
          </a:xfrm>
          <a:prstGeom prst="ellipse">
            <a:avLst/>
          </a:prstGeom>
          <a:solidFill>
            <a:srgbClr val="032E3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75488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239512" y="37581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Property Management System (PMS)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214884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75320" y="2295144"/>
            <a:ext cx="365760" cy="365760"/>
          </a:xfrm>
          <a:prstGeom prst="ellipse">
            <a:avLst/>
          </a:prstGeom>
          <a:solidFill>
            <a:srgbClr val="032E3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27532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8759952" y="220370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CRM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138160" y="292608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275320" y="3072384"/>
            <a:ext cx="365760" cy="365760"/>
          </a:xfrm>
          <a:prstGeom prst="ellipse">
            <a:avLst/>
          </a:prstGeom>
          <a:solidFill>
            <a:srgbClr val="032E3B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27532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8759952" y="298094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Channel Manager (tarifas y disponibilidad sincronizadas)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38160" y="370332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75320" y="3849624"/>
            <a:ext cx="365760" cy="365760"/>
          </a:xfrm>
          <a:prstGeom prst="ellipse">
            <a:avLst/>
          </a:prstGeom>
          <a:solidFill>
            <a:srgbClr val="032E3B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7532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759952" y="37581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Acompañamiento y ajustes durante el primer mes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Nereidas Apart  ·  Propuesta de Community Management</a:t>
            </a:r>
            <a:endParaRPr lang="en-US" sz="900" dirty="0"/>
          </a:p>
        </p:txBody>
      </p:sp>
      <p:sp>
        <p:nvSpPr>
          <p:cNvPr id="39" name="Text 37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A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Rediseño de la página web actual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749040" cy="4251960"/>
          </a:xfrm>
          <a:prstGeom prst="roundRect">
            <a:avLst>
              <a:gd name="adj" fmla="val 2439"/>
            </a:avLst>
          </a:prstGeom>
          <a:solidFill>
            <a:srgbClr val="E9745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9745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880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$900.000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ARS · pago único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4023360"/>
            <a:ext cx="3017520" cy="0"/>
          </a:xfrm>
          <a:prstGeom prst="line">
            <a:avLst/>
          </a:prstGeom>
          <a:noFill/>
          <a:ln w="12700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20624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BF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puede ofrecer en lugar de la gestión de redes, o como proyecto adicional una vez iniciado alguno de los dos planes.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16916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974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INCLUYE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214884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295144"/>
            <a:ext cx="365760" cy="365760"/>
          </a:xfrm>
          <a:prstGeom prst="ellipse">
            <a:avLst/>
          </a:prstGeom>
          <a:solidFill>
            <a:srgbClr val="E9745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488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239512" y="220370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responsive a medida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292608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3072384"/>
            <a:ext cx="365760" cy="365760"/>
          </a:xfrm>
          <a:prstGeom prst="ellipse">
            <a:avLst/>
          </a:prstGeom>
          <a:solidFill>
            <a:srgbClr val="E9745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75488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239512" y="298094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de unidades con galería de fotos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17720" y="370332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54880" y="3849624"/>
            <a:ext cx="365760" cy="365760"/>
          </a:xfrm>
          <a:prstGeom prst="ellipse">
            <a:avLst/>
          </a:prstGeom>
          <a:solidFill>
            <a:srgbClr val="E9745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75488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5239512" y="37581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Botón de reserva / contacto directo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38160" y="214884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75320" y="2295144"/>
            <a:ext cx="365760" cy="365760"/>
          </a:xfrm>
          <a:prstGeom prst="ellipse">
            <a:avLst/>
          </a:prstGeom>
          <a:solidFill>
            <a:srgbClr val="E9745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7532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759952" y="220370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con Instagram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138160" y="292608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3072384"/>
            <a:ext cx="365760" cy="365760"/>
          </a:xfrm>
          <a:prstGeom prst="ellipse">
            <a:avLst/>
          </a:prstGeom>
          <a:solidFill>
            <a:srgbClr val="E9745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75320" y="307238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8759952" y="298094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Optimización SEO básica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138160" y="370332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275320" y="3849624"/>
            <a:ext cx="365760" cy="365760"/>
          </a:xfrm>
          <a:prstGeom prst="ellipse">
            <a:avLst/>
          </a:prstGeom>
          <a:solidFill>
            <a:srgbClr val="E9745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27532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8759952" y="3758184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mensual opcional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Nereidas Apart  ·  Propuesta de Community Management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A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de 30 días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51560" cy="457200"/>
          </a:xfrm>
          <a:prstGeom prst="rect">
            <a:avLst/>
          </a:prstGeom>
          <a:solidFill>
            <a:srgbClr val="05475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21792" y="1691640"/>
            <a:ext cx="905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1600200" y="1691640"/>
            <a:ext cx="2148840" cy="457200"/>
          </a:xfrm>
          <a:prstGeom prst="rect">
            <a:avLst/>
          </a:prstGeom>
          <a:solidFill>
            <a:srgbClr val="0547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73352" y="169164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49040" y="1691640"/>
            <a:ext cx="3977640" cy="457200"/>
          </a:xfrm>
          <a:prstGeom prst="rect">
            <a:avLst/>
          </a:prstGeom>
          <a:solidFill>
            <a:srgbClr val="05475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822192" y="1691640"/>
            <a:ext cx="3831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726680" y="1691640"/>
            <a:ext cx="2148840" cy="457200"/>
          </a:xfrm>
          <a:prstGeom prst="rect">
            <a:avLst/>
          </a:prstGeom>
          <a:solidFill>
            <a:srgbClr val="05475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99832" y="1691640"/>
            <a:ext cx="20025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875520" y="1691640"/>
            <a:ext cx="1920240" cy="457200"/>
          </a:xfrm>
          <a:prstGeom prst="rect">
            <a:avLst/>
          </a:prstGeom>
          <a:solidFill>
            <a:srgbClr val="0547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948672" y="1691640"/>
            <a:ext cx="17739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148840"/>
            <a:ext cx="1051560" cy="1051560"/>
          </a:xfrm>
          <a:prstGeom prst="rect">
            <a:avLst/>
          </a:prstGeom>
          <a:solidFill>
            <a:srgbClr val="F7F9FA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185416"/>
            <a:ext cx="9052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5A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1600200" y="2148840"/>
            <a:ext cx="2148840" cy="1051560"/>
          </a:xfrm>
          <a:prstGeom prst="rect">
            <a:avLst/>
          </a:prstGeom>
          <a:solidFill>
            <a:srgbClr val="F7F9FA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673352" y="2185416"/>
            <a:ext cx="20025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Bienvenida y unidades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749040" y="2148840"/>
            <a:ext cx="3977640" cy="1051560"/>
          </a:xfrm>
          <a:prstGeom prst="rect">
            <a:avLst/>
          </a:prstGeom>
          <a:solidFill>
            <a:srgbClr val="F7F9FA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822192" y="2185416"/>
            <a:ext cx="38313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 / Mié / Vie — presentación de unidades y entorno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26680" y="2148840"/>
            <a:ext cx="2148840" cy="1051560"/>
          </a:xfrm>
          <a:prstGeom prst="rect">
            <a:avLst/>
          </a:prstGeom>
          <a:solidFill>
            <a:srgbClr val="F7F9FA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99832" y="2185416"/>
            <a:ext cx="20025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reels — recorrido en video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875520" y="2148840"/>
            <a:ext cx="1920240" cy="1051560"/>
          </a:xfrm>
          <a:prstGeom prst="rect">
            <a:avLst/>
          </a:prstGeom>
          <a:solidFill>
            <a:srgbClr val="F7F9FA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948672" y="2185416"/>
            <a:ext cx="17739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diarias — detrás de escena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200400"/>
            <a:ext cx="10515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1792" y="3236976"/>
            <a:ext cx="9052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5A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600200" y="3200400"/>
            <a:ext cx="21488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1673352" y="3236976"/>
            <a:ext cx="20025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Experiencias y entorno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3200400"/>
            <a:ext cx="39776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822192" y="3236976"/>
            <a:ext cx="38313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 / Mié / Vie — playa, bosque y actividades cercanas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26680" y="3200400"/>
            <a:ext cx="21488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99832" y="3236976"/>
            <a:ext cx="20025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reels — experiencias en la zona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875520" y="3200400"/>
            <a:ext cx="1920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948672" y="3236976"/>
            <a:ext cx="17739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diarias — clima y tips locales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251960"/>
            <a:ext cx="1051560" cy="1051560"/>
          </a:xfrm>
          <a:prstGeom prst="rect">
            <a:avLst/>
          </a:prstGeom>
          <a:solidFill>
            <a:srgbClr val="F7F9FA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1792" y="4288536"/>
            <a:ext cx="9052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5A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3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1600200" y="4251960"/>
            <a:ext cx="2148840" cy="1051560"/>
          </a:xfrm>
          <a:prstGeom prst="rect">
            <a:avLst/>
          </a:prstGeom>
          <a:solidFill>
            <a:srgbClr val="F7F9FA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673352" y="4288536"/>
            <a:ext cx="20025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Testimonios y detalles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49040" y="4251960"/>
            <a:ext cx="3977640" cy="1051560"/>
          </a:xfrm>
          <a:prstGeom prst="rect">
            <a:avLst/>
          </a:prstGeom>
          <a:solidFill>
            <a:srgbClr val="F7F9FA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822192" y="4288536"/>
            <a:ext cx="38313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 / Mié / Vie — comodidades y reseñas de huéspedes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726680" y="4251960"/>
            <a:ext cx="2148840" cy="1051560"/>
          </a:xfrm>
          <a:prstGeom prst="rect">
            <a:avLst/>
          </a:prstGeom>
          <a:solidFill>
            <a:srgbClr val="F7F9FA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799832" y="4288536"/>
            <a:ext cx="20025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reels — testimonios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9875520" y="4251960"/>
            <a:ext cx="1920240" cy="1051560"/>
          </a:xfrm>
          <a:prstGeom prst="rect">
            <a:avLst/>
          </a:prstGeom>
          <a:solidFill>
            <a:srgbClr val="F7F9FA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9948672" y="4288536"/>
            <a:ext cx="17739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diarias — preguntas y respuestas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48640" y="5303520"/>
            <a:ext cx="105156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621792" y="5340096"/>
            <a:ext cx="90525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45A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4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1600200" y="5303520"/>
            <a:ext cx="21488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673352" y="5340096"/>
            <a:ext cx="20025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Promoción y cierre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49040" y="5303520"/>
            <a:ext cx="39776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822192" y="5340096"/>
            <a:ext cx="38313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 / Mié / Vie — disponibilidad y promociones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7726680" y="5303520"/>
            <a:ext cx="21488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7799832" y="5340096"/>
            <a:ext cx="20025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reels — resumen del mes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875520" y="5303520"/>
            <a:ext cx="192024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E3E8EA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9948672" y="5340096"/>
            <a:ext cx="177393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Historias diarias — cuenta regresiva de reservas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Nereidas Apart  ·  Propuesta de Community Management</a:t>
            </a:r>
            <a:endParaRPr lang="en-US" sz="900" dirty="0"/>
          </a:p>
        </p:txBody>
      </p:sp>
      <p:sp>
        <p:nvSpPr>
          <p:cNvPr id="55" name="Text 53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5A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VISUALES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547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de feed propuesta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6949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Grilla de 9 publicaciones alternando foto de unidad, gráfica de marca y foto de entorno, siempre dentro de la paleta Mar Profundo.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1188720" cy="1188720"/>
          </a:xfrm>
          <a:prstGeom prst="roundRect">
            <a:avLst>
              <a:gd name="adj" fmla="val 3846"/>
            </a:avLst>
          </a:prstGeom>
          <a:solidFill>
            <a:srgbClr val="0B3D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21792" y="2359152"/>
            <a:ext cx="1042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47088" y="2286000"/>
            <a:ext cx="1188720" cy="1188720"/>
          </a:xfrm>
          <a:prstGeom prst="roundRect">
            <a:avLst>
              <a:gd name="adj" fmla="val 3846"/>
            </a:avLst>
          </a:prstGeom>
          <a:solidFill>
            <a:srgbClr val="E4C9A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920240" y="2359152"/>
            <a:ext cx="1042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“Tu lugar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al mar”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145536" y="2286000"/>
            <a:ext cx="1188720" cy="1188720"/>
          </a:xfrm>
          <a:prstGeom prst="roundRect">
            <a:avLst>
              <a:gd name="adj" fmla="val 3846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18688" y="2359152"/>
            <a:ext cx="1042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48640" y="3584448"/>
            <a:ext cx="1188720" cy="1188720"/>
          </a:xfrm>
          <a:prstGeom prst="roundRect">
            <a:avLst>
              <a:gd name="adj" fmla="val 3846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1792" y="3657600"/>
            <a:ext cx="1042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amenities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847088" y="3584448"/>
            <a:ext cx="1188720" cy="1188720"/>
          </a:xfrm>
          <a:prstGeom prst="roundRect">
            <a:avLst>
              <a:gd name="adj" fmla="val 3846"/>
            </a:avLst>
          </a:prstGeom>
          <a:solidFill>
            <a:srgbClr val="0B3D5C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920240" y="3657600"/>
            <a:ext cx="1042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45536" y="3584448"/>
            <a:ext cx="1188720" cy="1188720"/>
          </a:xfrm>
          <a:prstGeom prst="roundRect">
            <a:avLst>
              <a:gd name="adj" fmla="val 3846"/>
            </a:avLst>
          </a:prstGeom>
          <a:solidFill>
            <a:srgbClr val="E4C9A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218688" y="3657600"/>
            <a:ext cx="1042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 /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4882896"/>
            <a:ext cx="1188720" cy="1188720"/>
          </a:xfrm>
          <a:prstGeom prst="roundRect">
            <a:avLst>
              <a:gd name="adj" fmla="val 3846"/>
            </a:avLst>
          </a:prstGeom>
          <a:solidFill>
            <a:srgbClr val="E4C9A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" y="4956048"/>
            <a:ext cx="1042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 del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847088" y="4882896"/>
            <a:ext cx="1188720" cy="1188720"/>
          </a:xfrm>
          <a:prstGeom prst="roundRect">
            <a:avLst>
              <a:gd name="adj" fmla="val 3846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920240" y="4956048"/>
            <a:ext cx="1042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atardecer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145536" y="4882896"/>
            <a:ext cx="1188720" cy="1188720"/>
          </a:xfrm>
          <a:prstGeom prst="roundRect">
            <a:avLst>
              <a:gd name="adj" fmla="val 3846"/>
            </a:avLst>
          </a:prstGeom>
          <a:solidFill>
            <a:srgbClr val="0B3D5C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3218688" y="4956048"/>
            <a:ext cx="104241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detalle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91456" y="2286000"/>
            <a:ext cx="6821424" cy="3794760"/>
          </a:xfrm>
          <a:prstGeom prst="roundRect">
            <a:avLst>
              <a:gd name="adj" fmla="val 1928"/>
            </a:avLst>
          </a:prstGeom>
          <a:solidFill>
            <a:srgbClr val="F7F9FA"/>
          </a:solidFill>
          <a:ln w="12700">
            <a:solidFill>
              <a:srgbClr val="E3E8E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065776" y="2514600"/>
            <a:ext cx="6272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45AB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DE LA GRILLA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5065776" y="2926080"/>
            <a:ext cx="6272784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Alternancia entre foto y pieza gráfica cada 3 publicaciones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tono de color en todas las fotos (edición uniforme)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 Cambria para frases y citas sobre la paleta Mar Profundo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ícono de marca en la esquina de las piezas gráficas</a:t>
            </a:r>
            <a:endParaRPr lang="en-US" sz="13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A2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breves, cálidos y directos — sin tecnicismos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Nereidas Apart  ·  Propuesta de Community Management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E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47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6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MUESTRAS VISUALES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Portadas de Reels e Historias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97280" y="1691640"/>
            <a:ext cx="2834640" cy="4617720"/>
          </a:xfrm>
          <a:prstGeom prst="roundRect">
            <a:avLst>
              <a:gd name="adj" fmla="val 5806"/>
            </a:avLst>
          </a:prstGeom>
          <a:solidFill>
            <a:srgbClr val="1C7293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1872" y="2194560"/>
            <a:ext cx="2505456" cy="3246120"/>
          </a:xfrm>
          <a:prstGeom prst="roundRect">
            <a:avLst>
              <a:gd name="adj" fmla="val 2190"/>
            </a:avLst>
          </a:prstGeom>
          <a:solidFill>
            <a:srgbClr val="0B3D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261872" y="18745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7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3611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“5 razones para</a:t>
            </a:r>
            <a:endParaRPr lang="en-US" sz="1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elegir Nereidas”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194560" y="5074920"/>
            <a:ext cx="640080" cy="640080"/>
          </a:xfrm>
          <a:prstGeom prst="ellipse">
            <a:avLst/>
          </a:prstGeom>
          <a:solidFill>
            <a:srgbClr val="E4C9A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94560" y="5074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2834640" cy="4617720"/>
          </a:xfrm>
          <a:prstGeom prst="roundRect">
            <a:avLst>
              <a:gd name="adj" fmla="val 5806"/>
            </a:avLst>
          </a:prstGeom>
          <a:solidFill>
            <a:srgbClr val="E4C9A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53712" y="1874520"/>
            <a:ext cx="2505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3154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¿Con o sin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0B3D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desayuno?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754880" y="416052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754880" y="41605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3D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desayuno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4754880"/>
            <a:ext cx="2103120" cy="502920"/>
          </a:xfrm>
          <a:prstGeom prst="roundRect">
            <a:avLst>
              <a:gd name="adj" fmla="val 49091"/>
            </a:avLst>
          </a:prstGeom>
          <a:solidFill>
            <a:srgbClr val="0B3D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754880" y="47548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desayuno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0" y="1691640"/>
            <a:ext cx="3840480" cy="4617720"/>
          </a:xfrm>
          <a:prstGeom prst="roundRect">
            <a:avLst>
              <a:gd name="adj" fmla="val 1905"/>
            </a:avLst>
          </a:prstGeom>
          <a:solidFill>
            <a:srgbClr val="032E3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04672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6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FUNCIONAN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046720" y="2423160"/>
            <a:ext cx="329184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7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reels arrancan con una promesa clara en el título, no con la marca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7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historias usan encuestas y stickers interactivos para subir el alcance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7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paleta en todo formato, para que se reconozca la cuenta al instante</a:t>
            </a:r>
            <a:endParaRPr lang="en-US" sz="125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250" dirty="0">
                <a:solidFill>
                  <a:srgbClr val="E7F0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Textos cortos: se leen en menos de 2 segundos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Nereidas Apart  ·  Propuesta de Community Management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115568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47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4937760" cy="4937760"/>
          </a:xfrm>
          <a:prstGeom prst="ellipse">
            <a:avLst/>
          </a:prstGeom>
          <a:solidFill>
            <a:srgbClr val="032E3B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-1371600"/>
            <a:ext cx="3291840" cy="3291840"/>
          </a:xfrm>
          <a:prstGeom prst="ellipse">
            <a:avLst/>
          </a:prstGeom>
          <a:solidFill>
            <a:srgbClr val="45AB6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¿Empezamos?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841248" y="329184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F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Elegí el plan que mejor se ajuste a esta temporada — Standard, Full, Superior, o el rediseño de la web —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BFE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arrancamos con el calendario de 30 días la misma semana.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41248" y="4434840"/>
            <a:ext cx="1828800" cy="0"/>
          </a:xfrm>
          <a:prstGeom prst="line">
            <a:avLst/>
          </a:prstGeom>
          <a:noFill/>
          <a:ln w="25400">
            <a:solidFill>
              <a:srgbClr val="F6C9A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459028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mnt/user-data/uploads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" y="4626864"/>
            <a:ext cx="429768" cy="429768"/>
          </a:xfrm>
          <a:prstGeom prst="ellipse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463040" y="459028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Gonzalo  ·  TAWENO — Desarrollo Web, Marketing Digital &amp; Identidad de Marca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463040" y="495604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Costa Atlántica, Buenos Aires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2026-09-10T21:46:09Z</dcterms:created>
  <dcterms:modified xsi:type="dcterms:W3CDTF">2026-09-10T21:46:09Z</dcterms:modified>
</cp:coreProperties>
</file>